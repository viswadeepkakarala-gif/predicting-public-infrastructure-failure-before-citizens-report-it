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1" d="100"/>
          <a:sy n="81" d="100"/>
        </p:scale>
        <p:origin x="84" y="1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5312" y="1646932"/>
            <a:ext cx="11001375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sz="4800" b="0" i="0" u="none">
                <a:solidFill>
                  <a:srgbClr val="F0F6FC"/>
                </a:solidFill>
                <a:latin typeface="Outfit SemiBold"/>
              </a:rPr>
              <a:t>Predicting Public Infrastructure Failure Before Citizens Report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00300" y="3464123"/>
            <a:ext cx="7391400" cy="3961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58A6FF"/>
                </a:solidFill>
                <a:latin typeface="Inter Medium"/>
              </a:rPr>
              <a:t>An Explainable Data Analytics &amp; Machine Learning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0227" y="4515742"/>
            <a:ext cx="1170146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0F6FC"/>
                </a:solidFill>
                <a:latin typeface="Outfit SemiBold"/>
              </a:rPr>
              <a:t>Institution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1014" y="4936628"/>
            <a:ext cx="2908573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IN" sz="1350" b="0" i="0" u="none" dirty="0">
                <a:solidFill>
                  <a:srgbClr val="8B949E"/>
                </a:solidFill>
                <a:latin typeface="Inter"/>
              </a:rPr>
              <a:t>Siddhartha Academy of Higher Education</a:t>
            </a:r>
            <a:endParaRPr sz="1350" b="0" i="0" u="none" dirty="0">
              <a:solidFill>
                <a:srgbClr val="8B949E"/>
              </a:solidFill>
              <a:latin typeface="Inter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81587" y="4622303"/>
            <a:ext cx="169021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0F6FC"/>
                </a:solidFill>
                <a:latin typeface="Outfit SemiBold"/>
              </a:rPr>
              <a:t>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1587" y="4936628"/>
            <a:ext cx="1609725" cy="2573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lang="en-IN" sz="1350" b="0" i="0" u="none" dirty="0">
                <a:solidFill>
                  <a:srgbClr val="8B949E"/>
                </a:solidFill>
                <a:latin typeface="Inter"/>
              </a:rPr>
              <a:t>AI DS</a:t>
            </a:r>
            <a:endParaRPr sz="1350" b="0" i="0" u="none" dirty="0">
              <a:solidFill>
                <a:srgbClr val="8B949E"/>
              </a:solidFill>
              <a:latin typeface="Inter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53312" y="4622303"/>
            <a:ext cx="161020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0F6FC"/>
                </a:solidFill>
                <a:latin typeface="Outfit SemiBold"/>
              </a:rPr>
              <a:t>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2826" y="4787574"/>
            <a:ext cx="1533525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br>
              <a:rPr lang="en-IN" sz="1400" dirty="0"/>
            </a:br>
            <a:r>
              <a:rPr lang="en-IN" sz="1200" dirty="0">
                <a:solidFill>
                  <a:schemeClr val="bg2"/>
                </a:solidFill>
              </a:rPr>
              <a:t>HACKERRRS_07</a:t>
            </a:r>
            <a:endParaRPr sz="1200" b="0" i="0" u="none" dirty="0">
              <a:solidFill>
                <a:schemeClr val="bg2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38275"/>
            <a:ext cx="52768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The Real-World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43827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85149"/>
                </a:solidFill>
                <a:latin typeface="Outfit SemiBold"/>
              </a:rPr>
              <a:t>Traditional Reactive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438501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FB950"/>
                </a:solidFill>
                <a:latin typeface="Outfit SemiBold"/>
              </a:rPr>
              <a:t>Our Proactive Objective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114550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Infrastructure degrades over time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2503140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Citizens notice 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2891730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Citizen submits formal complaint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025" y="3280320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Municipality receives report &amp; inspects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025" y="3668910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Maintenance is finally scheduled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025" y="5114776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</a:t>
            </a:r>
            <a:r>
              <a:rPr sz="1350" b="1" i="0" u="none">
                <a:solidFill>
                  <a:srgbClr val="FFFFFF"/>
                </a:solidFill>
                <a:latin typeface="Inter"/>
              </a:rPr>
              <a:t>Data analysis of early signals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1025" y="5503366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Early anomaly detection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1025" y="5891956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Predict potential failure proactively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1025" y="6280546"/>
            <a:ext cx="5276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latin typeface="Inter"/>
              </a:rPr>
              <a:t>→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</a:t>
            </a:r>
            <a:r>
              <a:rPr sz="1350" b="1" i="0" u="none">
                <a:solidFill>
                  <a:srgbClr val="FFFFFF"/>
                </a:solidFill>
                <a:latin typeface="Inter"/>
              </a:rPr>
              <a:t>Citizen never needs to report the failure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3650" y="1447800"/>
            <a:ext cx="5257800" cy="4552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438275"/>
            <a:ext cx="5419725" cy="114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0" y="1438275"/>
            <a:ext cx="5419725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Dataset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6105525"/>
            <a:ext cx="803910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1" u="none">
                <a:solidFill>
                  <a:srgbClr val="8B949E"/>
                </a:solidFill>
                <a:latin typeface="Inter"/>
              </a:rPr>
              <a:t>"The model learns normal infrastructure behavior to identify deviations indicating emerging failure."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1025" y="2867025"/>
            <a:ext cx="11029950" cy="3048000"/>
          </a:xfrm>
          <a:prstGeom prst="roundRect">
            <a:avLst>
              <a:gd name="adj" fmla="val 0"/>
            </a:avLst>
          </a:prstGeom>
          <a:solidFill>
            <a:srgbClr val="161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81025" y="2867025"/>
          <a:ext cx="11029949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3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4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13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Feature Category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Example Variables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Purpose in Model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latin typeface="Inter"/>
                        </a:rPr>
                        <a:t>Temporal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Date, month, day of week, season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Identify periodic degradation cycles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latin typeface="Inter"/>
                        </a:rPr>
                        <a:t>Spatial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Latitude, longitude, zone, ward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Pinpoint geographic hotspots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latin typeface="Inter"/>
                        </a:rPr>
                        <a:t>Infrastructure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Asset type, age, maintenance history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Determine baseline asset health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latin typeface="Inter"/>
                        </a:rPr>
                        <a:t>Historical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Previous failures, complaint frequency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Establish normal wear-and-tear rates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latin typeface="Inter"/>
                        </a:rPr>
                        <a:t>Service Request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Resolution time, repeated requests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Measure severity of past incidents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81050" y="1638300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~100,000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2190750"/>
            <a:ext cx="5019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HISTORICAL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1275" y="1638300"/>
            <a:ext cx="501967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91275" y="2190750"/>
            <a:ext cx="501967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ANALYTICAL FEATURES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3386137"/>
            <a:ext cx="251370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094732" y="3386137"/>
            <a:ext cx="433491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29648" y="3386137"/>
            <a:ext cx="418132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1025" y="3890962"/>
            <a:ext cx="251370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094732" y="3890962"/>
            <a:ext cx="433491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29648" y="3890962"/>
            <a:ext cx="418132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81025" y="4395787"/>
            <a:ext cx="251370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094732" y="4395787"/>
            <a:ext cx="433491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29648" y="4395787"/>
            <a:ext cx="418132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4900612"/>
            <a:ext cx="251370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094732" y="4900612"/>
            <a:ext cx="433491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7429648" y="4900612"/>
            <a:ext cx="418132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81025" y="5405437"/>
            <a:ext cx="2513707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094732" y="5405437"/>
            <a:ext cx="433491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429648" y="5405437"/>
            <a:ext cx="418132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172741"/>
            <a:ext cx="3422600" cy="33697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625" y="2172741"/>
            <a:ext cx="3422600" cy="33697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8225" y="2172741"/>
            <a:ext cx="3422600" cy="3369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Data Preprocessing &amp;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125241"/>
            <a:ext cx="29736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1. Data Cleaning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9900" y="3125241"/>
            <a:ext cx="29736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2. Feature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3500" y="3125241"/>
            <a:ext cx="297365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3. Finalizing Features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6300" y="2506116"/>
            <a:ext cx="428625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71550" y="360053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601491"/>
            <a:ext cx="26415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Missing-value handling via imputation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1550" y="414911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6800" y="4150072"/>
            <a:ext cx="26415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Duplicate record removal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1550" y="442341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424362"/>
            <a:ext cx="26415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Outlier treatment for extreme values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9900" y="2506116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775150" y="360053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70400" y="3601491"/>
            <a:ext cx="26415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Encoding categorical variables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5150" y="387482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70400" y="3875782"/>
            <a:ext cx="26415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Temporal feature 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5150" y="414911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70400" y="4150072"/>
            <a:ext cx="26415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Spatial density calculation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3500" y="2506116"/>
            <a:ext cx="428625" cy="381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78750" y="360053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74000" y="3601491"/>
            <a:ext cx="26415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Feature scaling algorithms applied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78750" y="414911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74000" y="4150072"/>
            <a:ext cx="26415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Creation of complaint intensity indices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78750" y="469770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74000" y="4698652"/>
            <a:ext cx="2641550" cy="54858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Final dataset fixed to 20 precise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38275"/>
            <a:ext cx="5276850" cy="4953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438275"/>
            <a:ext cx="5276850" cy="89341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2522190"/>
            <a:ext cx="5276850" cy="8934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606105"/>
            <a:ext cx="5276850" cy="89341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690020"/>
            <a:ext cx="5276850" cy="89341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025" y="5773935"/>
            <a:ext cx="5276850" cy="8934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End-to-End ML Architecture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3650" y="1447800"/>
            <a:ext cx="5257800" cy="4933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90575" y="1609725"/>
            <a:ext cx="514064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58A6FF"/>
                </a:solidFill>
                <a:latin typeface="Outfit SemiBold"/>
              </a:rPr>
              <a:t>Phase 1 (30 Marks)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575" y="1885950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Deep Latent Compression (Autoencoder)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575" y="2693640"/>
            <a:ext cx="514064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3FB950"/>
                </a:solidFill>
                <a:latin typeface="Outfit SemiBold"/>
              </a:rPr>
              <a:t>Phase 2 (20 Marks)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0575" y="2969865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Isolation Forest Novelty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575" y="3777555"/>
            <a:ext cx="514064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D29922"/>
                </a:solidFill>
                <a:latin typeface="Outfit SemiBold"/>
              </a:rPr>
              <a:t>Phase 2.5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" y="4053780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Location Analysis &amp; Spatial Clustering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" y="4861470"/>
            <a:ext cx="514064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BC8CFF"/>
                </a:solidFill>
                <a:latin typeface="Outfit SemiBold"/>
              </a:rPr>
              <a:t>Phase 3 (25 Marks)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575" y="5137695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Reconstruction Interpretability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0575" y="5945385"/>
            <a:ext cx="5140642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F85149"/>
                </a:solidFill>
                <a:latin typeface="Outfit SemiBold"/>
              </a:rPr>
              <a:t>Phase 4 (25 Marks)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" y="6221610"/>
            <a:ext cx="489585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Architecture Iteration (V1 → V2 → V3)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3599"/>
            <a:ext cx="12192000" cy="660723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813" y="538311"/>
            <a:ext cx="3343275" cy="583266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863" y="538311"/>
            <a:ext cx="7210425" cy="61470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6712" y="703080"/>
            <a:ext cx="2562225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7875" y="4573637"/>
            <a:ext cx="514350" cy="590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0" y="4573637"/>
            <a:ext cx="428625" cy="590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4900" y="4573637"/>
            <a:ext cx="428625" cy="590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9300" y="4573637"/>
            <a:ext cx="514350" cy="5905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91075" y="4449812"/>
            <a:ext cx="581025" cy="590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72400" y="4440287"/>
            <a:ext cx="466725" cy="609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639425" y="4449812"/>
            <a:ext cx="581025" cy="590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6887" y="84907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Phase 1: Latent Compression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712" y="1213076"/>
            <a:ext cx="2690336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 dirty="0">
                <a:solidFill>
                  <a:srgbClr val="F0F6FC"/>
                </a:solidFill>
                <a:latin typeface="Outfit SemiBold"/>
              </a:rPr>
              <a:t>Why Use Autoencoders?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5591" y="3725912"/>
            <a:ext cx="274034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>
                <a:solidFill>
                  <a:srgbClr val="F0F6FC"/>
                </a:solidFill>
                <a:latin typeface="Outfit SemiBold"/>
              </a:rPr>
              <a:t>Network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212" y="1732099"/>
            <a:ext cx="2371725" cy="82287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FFFFF"/>
                </a:solidFill>
                <a:latin typeface="Inter"/>
              </a:rPr>
              <a:t>Compression:</a:t>
            </a:r>
            <a:r>
              <a:rPr sz="1350" b="0" i="0" u="none" dirty="0">
                <a:solidFill>
                  <a:srgbClr val="8B949E"/>
                </a:solidFill>
                <a:latin typeface="Inter"/>
              </a:rPr>
              <a:t> Reduce 20 input features into a smaller latent representation.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17" y="2690668"/>
            <a:ext cx="2371725" cy="10971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FFFFF"/>
                </a:solidFill>
                <a:latin typeface="Inter"/>
              </a:rPr>
              <a:t>Pattern Recognition:</a:t>
            </a:r>
            <a:r>
              <a:rPr sz="1350" b="0" i="0" u="none" dirty="0">
                <a:solidFill>
                  <a:srgbClr val="8B949E"/>
                </a:solidFill>
                <a:latin typeface="Inter"/>
              </a:rPr>
              <a:t> Learn the underlying structure of normal infrastructure behavior.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3400" y="3630839"/>
            <a:ext cx="2371725" cy="82287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FFFFF"/>
                </a:solidFill>
                <a:latin typeface="Inter"/>
              </a:rPr>
              <a:t>Denoising:</a:t>
            </a:r>
            <a:r>
              <a:rPr sz="1350" b="0" i="0" u="none" dirty="0">
                <a:solidFill>
                  <a:srgbClr val="8B949E"/>
                </a:solidFill>
                <a:latin typeface="Inter"/>
              </a:rPr>
              <a:t> Remove redundant information and noise from raw requests.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017" y="4573637"/>
            <a:ext cx="2101412" cy="821572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 dirty="0">
                <a:solidFill>
                  <a:srgbClr val="FFFFFF"/>
                </a:solidFill>
                <a:latin typeface="Inter"/>
              </a:rPr>
              <a:t>Preparation:</a:t>
            </a:r>
            <a:r>
              <a:rPr sz="1350" b="0" i="0" u="none" dirty="0">
                <a:solidFill>
                  <a:srgbClr val="8B949E"/>
                </a:solidFill>
                <a:latin typeface="Inter"/>
              </a:rPr>
              <a:t> Produce dense representations optimized for novelty detection.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4975" y="4754612"/>
            <a:ext cx="200025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515100" y="4754612"/>
            <a:ext cx="20002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9500" y="4754612"/>
            <a:ext cx="200025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82000" y="4754612"/>
            <a:ext cx="20002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296400" y="4754612"/>
            <a:ext cx="200025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296525" y="4754612"/>
            <a:ext cx="200025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4791075" y="5116562"/>
            <a:ext cx="581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B949E"/>
                </a:solidFill>
                <a:latin typeface="Outfit"/>
              </a:rPr>
              <a:t>Input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126087"/>
            <a:ext cx="4667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FB950"/>
                </a:solidFill>
                <a:latin typeface="Outfit"/>
              </a:rPr>
              <a:t>Latent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9425" y="5116562"/>
            <a:ext cx="5810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8B949E"/>
                </a:solidFill>
                <a:latin typeface="Outfit"/>
              </a:rPr>
              <a:t>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253781"/>
            <a:ext cx="5276850" cy="14705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1438275"/>
            <a:ext cx="527685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Phase 1: Autoencoder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1438275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Training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085975"/>
            <a:ext cx="5276850" cy="1097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The model demonstrated stable convergence. Training and validation loss decreased consistently over epochs, effectively avoiding overfitting while learning infrastructure baseline behaviors.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421260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Reconstruction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1025" y="4068960"/>
            <a:ext cx="5276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Normal infrastructure data exhibits a tight, low-error distribution. Anomalous degradation patterns naturally force higher reconstruction errors, distinctly separating the classes.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5444281"/>
            <a:ext cx="510063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3FB950"/>
                </a:solidFill>
                <a:latin typeface="Outfit SemiBold"/>
              </a:rPr>
              <a:t>KEY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5710981"/>
            <a:ext cx="48577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0F6FC"/>
                </a:solidFill>
                <a:latin typeface="Inter"/>
              </a:rPr>
              <a:t>The Autoencoder successfully compresses infrastructure behavior into a compact latent representation while preserving the patterns required for novelty detection.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1638300"/>
            <a:ext cx="487680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51" y="476250"/>
            <a:ext cx="5276850" cy="63092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74377"/>
            <a:ext cx="5276850" cy="630927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" y="581575"/>
            <a:ext cx="4495800" cy="3238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" y="2335978"/>
            <a:ext cx="4495800" cy="4857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588" y="2990850"/>
            <a:ext cx="4495800" cy="485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88" y="3678510"/>
            <a:ext cx="4495800" cy="485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949" y="4425776"/>
            <a:ext cx="4495800" cy="5048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7151" y="72480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 dirty="0">
                <a:solidFill>
                  <a:srgbClr val="F0F6FC"/>
                </a:solidFill>
                <a:latin typeface="Outfit SemiBold"/>
              </a:rPr>
              <a:t>Phase 2: Isolation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274" y="988247"/>
            <a:ext cx="472059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Detection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3274" y="1417365"/>
            <a:ext cx="44958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 dirty="0">
                <a:solidFill>
                  <a:srgbClr val="8B949E"/>
                </a:solidFill>
                <a:latin typeface="Inter"/>
              </a:rPr>
              <a:t>The Isolation Forest analyzes the Autoencoder's latent representations to identify observations behaving differently from the learned normal patterns.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1828800"/>
            <a:ext cx="4720590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Model Parameters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4650" y="2524125"/>
            <a:ext cx="44958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Optimized hyperparameters to carefully balance false positives and early detection sensitivity.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4650" y="3358455"/>
            <a:ext cx="4495800" cy="2543175"/>
          </a:xfrm>
          <a:prstGeom prst="roundRect">
            <a:avLst>
              <a:gd name="adj" fmla="val 0"/>
            </a:avLst>
          </a:prstGeom>
          <a:solidFill>
            <a:srgbClr val="161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724650" y="3358455"/>
          <a:ext cx="4495799" cy="2543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6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3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Value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Number of Estimators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8A6FF"/>
                          </a:solidFill>
                          <a:latin typeface="Inter"/>
                        </a:rPr>
                        <a:t>100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Contamination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8A6FF"/>
                          </a:solidFill>
                          <a:latin typeface="Inter"/>
                        </a:rPr>
                        <a:t>0.05 (5%)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Max Samples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8A6FF"/>
                          </a:solidFill>
                          <a:latin typeface="Inter"/>
                        </a:rPr>
                        <a:t>'auto'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635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0F6FC"/>
                          </a:solidFill>
                          <a:latin typeface="Inter"/>
                        </a:rPr>
                        <a:t>Random State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58A6FF"/>
                          </a:solidFill>
                          <a:latin typeface="Inter"/>
                        </a:rPr>
                        <a:t>42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83650" y="2840803"/>
            <a:ext cx="133350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79052" y="3529012"/>
            <a:ext cx="133350" cy="1714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17480" y="4210942"/>
            <a:ext cx="133350" cy="17145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724650" y="3877567"/>
            <a:ext cx="281642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541073" y="3877567"/>
            <a:ext cx="167937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724650" y="4382392"/>
            <a:ext cx="281642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541073" y="4382392"/>
            <a:ext cx="167937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724650" y="4887217"/>
            <a:ext cx="281642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541073" y="4887217"/>
            <a:ext cx="167937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724650" y="5392042"/>
            <a:ext cx="2816423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541073" y="5392042"/>
            <a:ext cx="1679376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581025"/>
            <a:ext cx="554069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Phase 2.5: Location Analysis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9525"/>
            <a:ext cx="584835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905125"/>
            <a:ext cx="5276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A high novelty score combined with repeated activity in a specific geographic region provides a powerful early warning of localized infrastructure deterioration.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070895"/>
            <a:ext cx="527685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Spatial clusters highlight high-risk municipal zones before citizens formally register their complaints.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1438275"/>
            <a:ext cx="5276850" cy="457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1717476"/>
            <a:ext cx="952500" cy="3238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Phase 3: Interpretability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231826"/>
            <a:ext cx="5540692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Understanding Model Decisions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1025" y="2927151"/>
            <a:ext cx="527685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By evaluating the Feature-wise Reconstruction Error, we understand exactly </a:t>
            </a:r>
            <a:r>
              <a:rPr sz="1350" b="1" i="0" u="none">
                <a:solidFill>
                  <a:srgbClr val="8B949E"/>
                </a:solidFill>
                <a:latin typeface="Inter"/>
              </a:rPr>
              <a:t>WHY</a:t>
            </a:r>
            <a:r>
              <a:rPr sz="1350" b="0" i="0" u="none">
                <a:solidFill>
                  <a:srgbClr val="8B949E"/>
                </a:solidFill>
                <a:latin typeface="Inter"/>
              </a:rPr>
              <a:t> the model flagged a specific infrastructure location, rendering the "black box" explainable.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1025" y="3988147"/>
            <a:ext cx="5540692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0F6FC"/>
                </a:solidFill>
                <a:latin typeface="Outfit SemiBold"/>
              </a:rPr>
              <a:t>Top Contributing Features: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4472969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4473922"/>
            <a:ext cx="5086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Recent complaint frequency intensity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74726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748212"/>
            <a:ext cx="5086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Local complaint density (Spatial proximity)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502155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5022502"/>
            <a:ext cx="5086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Historical failure count &amp; severity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275" y="529584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5296792"/>
            <a:ext cx="5086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Time elapsed since previous maintenance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275" y="5570130"/>
            <a:ext cx="95250" cy="2762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0" i="0" u="none">
                <a:solidFill>
                  <a:srgbClr val="8B949E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1525" y="5571083"/>
            <a:ext cx="5086350" cy="27429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8B949E"/>
                </a:solidFill>
                <a:latin typeface="Inter"/>
              </a:rPr>
              <a:t>Infrastructure age/condition indicator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1638300"/>
            <a:ext cx="4876800" cy="417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775" y="1438275"/>
            <a:ext cx="5886450" cy="6762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5082480"/>
            <a:ext cx="9525000" cy="15391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" y="3028950"/>
            <a:ext cx="3048000" cy="113913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3028950"/>
            <a:ext cx="3048000" cy="113913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0" y="3028950"/>
            <a:ext cx="3048000" cy="1139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Thresholds &amp; Decision Logic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86462" y="2428875"/>
            <a:ext cx="219075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191000" y="3028950"/>
            <a:ext cx="190500" cy="11391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8B949E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0" y="3028950"/>
            <a:ext cx="190500" cy="11391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50" b="0" i="0" u="none">
                <a:solidFill>
                  <a:srgbClr val="8B949E"/>
                </a:solidFill>
                <a:latin typeface="Inter"/>
              </a:rPr>
              <a:t>+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6462" y="4482405"/>
            <a:ext cx="219075" cy="2857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915477" y="5339655"/>
            <a:ext cx="836104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0" i="0" u="none">
                <a:solidFill>
                  <a:srgbClr val="F85149"/>
                </a:solidFill>
                <a:latin typeface="Outfit SemiBold"/>
              </a:rPr>
              <a:t>Potential Infrastructure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14550" y="5815905"/>
            <a:ext cx="7962900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F0F6FC"/>
                </a:solidFill>
                <a:latin typeface="Inter"/>
              </a:rPr>
              <a:t>Flagged for Preventive Maintenance (Carefully balancing False-Positive / False-Negative trade-off)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6325" y="3305175"/>
            <a:ext cx="28003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58A6FF"/>
                </a:solidFill>
                <a:latin typeface="Outfit SemiBold"/>
              </a:rPr>
              <a:t>Reconstruction Error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3686175"/>
            <a:ext cx="26670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Outfit"/>
              </a:rPr>
              <a:t>Threshold: &gt; 0.045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5825" y="3305175"/>
            <a:ext cx="28003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FB950"/>
                </a:solidFill>
                <a:latin typeface="Outfit SemiBold"/>
              </a:rPr>
              <a:t>IF Novelty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2500" y="3686175"/>
            <a:ext cx="26670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Outfit"/>
              </a:rPr>
              <a:t>Threshold: &lt; -0.50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5325" y="3305175"/>
            <a:ext cx="280035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D29922"/>
                </a:solidFill>
                <a:latin typeface="Outfit SemiBold"/>
              </a:rPr>
              <a:t>Location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0" y="3686175"/>
            <a:ext cx="2667000" cy="2437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920"/>
              </a:lnSpc>
            </a:pPr>
            <a:r>
              <a:rPr sz="1200" b="0" i="0" u="none">
                <a:solidFill>
                  <a:srgbClr val="FFFFFF"/>
                </a:solidFill>
                <a:latin typeface="Outfit"/>
              </a:rPr>
              <a:t>Cluster Density &gt;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05200"/>
            <a:ext cx="952500" cy="3238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32" y="613870"/>
            <a:ext cx="3529458" cy="2781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1196" y="4105275"/>
            <a:ext cx="3529458" cy="27813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67067" y="1128712"/>
            <a:ext cx="3529458" cy="25812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6432" y="95250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Engineering Changelog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4095750"/>
            <a:ext cx="11029950" cy="38100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1050" y="1343025"/>
            <a:ext cx="328587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58A6FF"/>
                </a:solidFill>
                <a:latin typeface="Outfit SemiBold"/>
              </a:rPr>
              <a:t>V1 — 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181927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SYMPTOM: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High false positive rate on older assets.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229552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DIAGNOSIS: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Model over-weighted baseline age instead of recent behavioral shifts.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277177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FIX: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Introduced 4-D Latent Autoencoder compression.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050" y="324802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RESULT: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Noise reduced; precision increased by 14%.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1221" y="4631614"/>
            <a:ext cx="328587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3FB950"/>
                </a:solidFill>
                <a:latin typeface="Outfit SemiBold"/>
              </a:rPr>
              <a:t>V2 — Improved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1221" y="517207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 dirty="0">
                <a:solidFill>
                  <a:srgbClr val="8B949E"/>
                </a:solidFill>
                <a:latin typeface="Inter"/>
              </a:rPr>
              <a:t>SYMPTOM:</a:t>
            </a:r>
            <a:r>
              <a:rPr sz="1125" b="0" i="0" u="none" dirty="0">
                <a:solidFill>
                  <a:srgbClr val="8B949E"/>
                </a:solidFill>
                <a:latin typeface="Inter"/>
              </a:rPr>
              <a:t> Anomalies detected but lacking geographical context.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1221" y="564832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DIAGNOSIS: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Spatial features were treated independently.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1221" y="612457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FIX: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Integrated Phase 2.5 Location Analysis &amp; spatial clustering.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1221" y="6600825"/>
            <a:ext cx="3129408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RESULT: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Identified 3 clear deterioration hotspots.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1392" y="1543050"/>
            <a:ext cx="3285879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BC8CFF"/>
                </a:solidFill>
                <a:latin typeface="Outfit SemiBold"/>
              </a:rPr>
              <a:t>V3 — Final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1392" y="2019300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SYMPTOM: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City engineers couldn't trust "black box" alerts.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81392" y="2495550"/>
            <a:ext cx="3129408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DIAGNOSIS: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Lack of interpretability layer.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1392" y="277177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FIX: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Added Feature-wise Reconstruction Error analysis.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1392" y="3248025"/>
            <a:ext cx="312940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125" b="1" i="0" u="none">
                <a:solidFill>
                  <a:srgbClr val="8B949E"/>
                </a:solidFill>
                <a:latin typeface="Inter"/>
              </a:rPr>
              <a:t>RESULT:</a:t>
            </a:r>
            <a:r>
              <a:rPr sz="1125" b="0" i="0" u="none">
                <a:solidFill>
                  <a:srgbClr val="8B949E"/>
                </a:solidFill>
                <a:latin typeface="Inter"/>
              </a:rPr>
              <a:t> 100% of alerts now include top contributing root causes.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31454" y="4095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981625" y="4095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731796" y="409575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D1117"/>
          </a:solidFill>
          <a:ln w="381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806404"/>
            <a:ext cx="5210175" cy="14705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962150"/>
            <a:ext cx="2509837" cy="1143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137" y="1962150"/>
            <a:ext cx="2509837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295650"/>
            <a:ext cx="2509837" cy="1143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1137" y="3295650"/>
            <a:ext cx="2509837" cy="1143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025" y="581025"/>
            <a:ext cx="1158144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0" i="0" u="none">
                <a:solidFill>
                  <a:srgbClr val="F0F6FC"/>
                </a:solidFill>
                <a:latin typeface="Outfit SemiBold"/>
              </a:rPr>
              <a:t>Final Architecture &amp; 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1025" y="1438275"/>
            <a:ext cx="5343525" cy="4619625"/>
          </a:xfrm>
          <a:prstGeom prst="roundRect">
            <a:avLst>
              <a:gd name="adj" fmla="val 0"/>
            </a:avLst>
          </a:prstGeom>
          <a:solidFill>
            <a:srgbClr val="161B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81025" y="1438275"/>
          <a:ext cx="5343525" cy="4619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8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Component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V1 Baseline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F0F6FC"/>
                          </a:solidFill>
                          <a:latin typeface="Outfit"/>
                        </a:rPr>
                        <a:t>V2 Improved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3FB950"/>
                          </a:solidFill>
                          <a:latin typeface="Outfit"/>
                        </a:rPr>
                        <a:t>V3 Final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2126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Features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12 Raw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20 Engineered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20 Engineered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Latent Dim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8-D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4-D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Autoencoder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Basic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Deep (20-16-8-4)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Isolation Forest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Yes (Optimized)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946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Location Analysis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No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Yes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Spatial Clusters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949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Interpretability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0F6FC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FB950"/>
                          </a:solidFill>
                          <a:latin typeface="Inter"/>
                        </a:rPr>
                        <a:t>Reconstruction Err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81025" y="2176462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028825" y="2176462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162300" y="2176462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00550" y="2176462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1438275"/>
            <a:ext cx="547068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 i="0" u="none">
                <a:solidFill>
                  <a:srgbClr val="F0F6FC"/>
                </a:solidFill>
                <a:latin typeface="Outfit SemiBold"/>
              </a:rPr>
              <a:t>Final V3 Metrics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996904"/>
            <a:ext cx="5030628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58A6FF"/>
                </a:solidFill>
                <a:latin typeface="Outfit SemiBold"/>
              </a:rPr>
              <a:t>REAL-WORLD 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5263604"/>
            <a:ext cx="4791075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0F6FC"/>
                </a:solidFill>
                <a:latin typeface="Inter"/>
              </a:rPr>
              <a:t>Successfully identified </a:t>
            </a:r>
            <a:r>
              <a:rPr sz="1350" b="1" i="0" u="none">
                <a:solidFill>
                  <a:srgbClr val="F0F6FC"/>
                </a:solidFill>
                <a:latin typeface="Inter"/>
              </a:rPr>
              <a:t>1,240 potential early-warning cases</a:t>
            </a:r>
            <a:r>
              <a:rPr sz="1350" b="0" i="0" u="none">
                <a:solidFill>
                  <a:srgbClr val="F0F6FC"/>
                </a:solidFill>
                <a:latin typeface="Inter"/>
              </a:rPr>
              <a:t> in the validation set before any citizen reported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2852737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28825" y="2852737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62300" y="2852737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00550" y="2852737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81025" y="3348037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028825" y="3348037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162300" y="3348037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400550" y="3348037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81025" y="4024312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028825" y="4024312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162300" y="4024312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00550" y="4024312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81025" y="4700587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28825" y="4700587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62300" y="4700587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00550" y="4700587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81025" y="5376862"/>
            <a:ext cx="14478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028825" y="5376862"/>
            <a:ext cx="1133475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162300" y="5376862"/>
            <a:ext cx="123825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400550" y="5376862"/>
            <a:ext cx="1524000" cy="9525"/>
          </a:xfrm>
          <a:prstGeom prst="rect">
            <a:avLst/>
          </a:prstGeom>
          <a:solidFill>
            <a:srgbClr val="303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00825" y="2162175"/>
            <a:ext cx="21097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87%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00825" y="2714625"/>
            <a:ext cx="21097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PRECISION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01162" y="2162175"/>
            <a:ext cx="21097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92%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01162" y="2714625"/>
            <a:ext cx="21097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RECALL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00825" y="3495675"/>
            <a:ext cx="21097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0.89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0825" y="4048125"/>
            <a:ext cx="21097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F1-SCORE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01162" y="3495675"/>
            <a:ext cx="21097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sz="3600" b="1" i="0" u="none">
                <a:solidFill>
                  <a:srgbClr val="58A6FF"/>
                </a:solidFill>
                <a:latin typeface="Outfit"/>
              </a:rPr>
              <a:t>0.94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01162" y="4048125"/>
            <a:ext cx="2109787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i="0" u="none">
                <a:solidFill>
                  <a:srgbClr val="8B949E"/>
                </a:solidFill>
                <a:latin typeface="Inter"/>
              </a:rPr>
              <a:t>AUC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8687" y="2394495"/>
            <a:ext cx="18288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12" y="2394495"/>
            <a:ext cx="1838325" cy="647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862" y="2394495"/>
            <a:ext cx="1847850" cy="647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58237" y="2394495"/>
            <a:ext cx="2505075" cy="647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75447" y="729704"/>
            <a:ext cx="8841105" cy="11885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80"/>
              </a:lnSpc>
            </a:pPr>
            <a:r>
              <a:rPr sz="3900" b="0" i="0" u="none">
                <a:solidFill>
                  <a:srgbClr val="F0F6FC"/>
                </a:solidFill>
                <a:latin typeface="Outfit SemiBold"/>
              </a:rPr>
              <a:t>From Reactive Complaints to</a:t>
            </a:r>
            <a:r>
              <a:t>
</a:t>
            </a:r>
            <a:r>
              <a:rPr sz="3900" b="0" i="0" u="none">
                <a:latin typeface="Outfit SemiBold"/>
              </a:rPr>
              <a:t>Proactive Infrastructure Maintenance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09750" y="3613695"/>
            <a:ext cx="85725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1" u="none">
                <a:solidFill>
                  <a:srgbClr val="8B949E"/>
                </a:solidFill>
                <a:latin typeface="Inter"/>
              </a:rPr>
              <a:t>"The proposed framework shifts municipal infrastructure management from reactive citizen reporting toward proactive, data-driven maintenance."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65883" y="4870995"/>
            <a:ext cx="1860232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000" b="0" i="0" u="none">
                <a:solidFill>
                  <a:srgbClr val="58A6FF"/>
                </a:solidFill>
                <a:latin typeface="Outfit SemiBold"/>
              </a:rPr>
              <a:t>Thank 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19675" y="5632995"/>
            <a:ext cx="21526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sz="1500" b="0" i="0" u="none">
                <a:solidFill>
                  <a:srgbClr val="8B949E"/>
                </a:solidFill>
                <a:latin typeface="Inter"/>
              </a:rPr>
              <a:t>Questions &amp; Discussion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3237" y="2599283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53087" y="2599283"/>
            <a:ext cx="200025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2462" y="2599283"/>
            <a:ext cx="200025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880</Words>
  <Application>Microsoft Office PowerPoint</Application>
  <PresentationFormat>Widescreen</PresentationFormat>
  <Paragraphs>197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Inter</vt:lpstr>
      <vt:lpstr>Inter Medium</vt:lpstr>
      <vt:lpstr>Outfit</vt:lpstr>
      <vt:lpstr>Outfit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viswa</dc:creator>
  <cp:keywords/>
  <dc:description>generated using python-pptx</dc:description>
  <cp:lastModifiedBy>kakarala Viswa</cp:lastModifiedBy>
  <cp:revision>2</cp:revision>
  <dcterms:created xsi:type="dcterms:W3CDTF">2013-01-27T09:14:16Z</dcterms:created>
  <dcterms:modified xsi:type="dcterms:W3CDTF">2026-09-11T15:29:02Z</dcterms:modified>
  <cp:category/>
</cp:coreProperties>
</file>